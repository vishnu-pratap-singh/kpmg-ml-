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974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587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83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204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213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129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0579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9209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536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957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270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32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003493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407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3662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68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56906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0632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0802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00775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790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62343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91087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1909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408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9044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1016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41DBE-988B-A61C-916E-C7768F302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1E8814-7EF9-A95B-6FE8-E14D151DC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1A553-6F69-AB0E-354D-FB1F8705B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5115A-6548-CC95-8C20-436FD0D13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8F6C-DD12-D906-DCCB-2CA3C1FB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401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6671329F-2AC4-47D7-9EF2-3CD84FBC37B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8BFF0CFD-F8D7-4919-B995-3F778260E1A9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8319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4E48AB-3111-AEF9-9669-1B665E701A42}"/>
              </a:ext>
            </a:extLst>
          </p:cNvPr>
          <p:cNvSpPr/>
          <p:nvPr/>
        </p:nvSpPr>
        <p:spPr>
          <a:xfrm>
            <a:off x="0" y="0"/>
            <a:ext cx="12192000" cy="8672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77286A-4FD0-DC45-5DC7-E11512D1CF50}"/>
              </a:ext>
            </a:extLst>
          </p:cNvPr>
          <p:cNvSpPr txBox="1"/>
          <p:nvPr/>
        </p:nvSpPr>
        <p:spPr>
          <a:xfrm>
            <a:off x="504335" y="1790285"/>
            <a:ext cx="48736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5000"/>
                  </a:schemeClr>
                </a:solidFill>
              </a:rPr>
              <a:t>Decision Trees, Random Forest, SVM</a:t>
            </a:r>
            <a:endParaRPr lang="en-IN" sz="25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4C693A-418F-FED4-78F0-09E66C7AC921}"/>
              </a:ext>
            </a:extLst>
          </p:cNvPr>
          <p:cNvSpPr txBox="1"/>
          <p:nvPr/>
        </p:nvSpPr>
        <p:spPr>
          <a:xfrm>
            <a:off x="546754" y="2968443"/>
            <a:ext cx="31768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>
                <a:solidFill>
                  <a:schemeClr val="bg2">
                    <a:lumMod val="10000"/>
                  </a:schemeClr>
                </a:solidFill>
              </a:rPr>
              <a:t>MBA 2025-27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EBCD31-DB86-20A7-7226-F015DA9E60FB}"/>
              </a:ext>
            </a:extLst>
          </p:cNvPr>
          <p:cNvCxnSpPr>
            <a:cxnSpLocks/>
          </p:cNvCxnSpPr>
          <p:nvPr/>
        </p:nvCxnSpPr>
        <p:spPr>
          <a:xfrm>
            <a:off x="631596" y="2897965"/>
            <a:ext cx="61179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Understanding Machine Learning: A Beginner's Guide">
            <a:extLst>
              <a:ext uri="{FF2B5EF4-FFF2-40B4-BE49-F238E27FC236}">
                <a16:creationId xmlns:a16="http://schemas.microsoft.com/office/drawing/2014/main" id="{3CDF8240-0EAC-0034-81F5-83FF4E5DB3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15" r="16512"/>
          <a:stretch>
            <a:fillRect/>
          </a:stretch>
        </p:blipFill>
        <p:spPr>
          <a:xfrm>
            <a:off x="5656082" y="1126095"/>
            <a:ext cx="6117996" cy="478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200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34F67-FA0E-3C73-EACD-AC950EC17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159FD9-9FAD-7D5A-41D5-4A5777096516}"/>
              </a:ext>
            </a:extLst>
          </p:cNvPr>
          <p:cNvSpPr/>
          <p:nvPr/>
        </p:nvSpPr>
        <p:spPr>
          <a:xfrm>
            <a:off x="0" y="0"/>
            <a:ext cx="12192000" cy="8672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D1A89B-A3D7-6C9A-911B-7C3AD87EC68A}"/>
              </a:ext>
            </a:extLst>
          </p:cNvPr>
          <p:cNvSpPr txBox="1"/>
          <p:nvPr/>
        </p:nvSpPr>
        <p:spPr>
          <a:xfrm>
            <a:off x="282805" y="172023"/>
            <a:ext cx="7701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chemeClr val="bg2">
                    <a:lumMod val="25000"/>
                  </a:schemeClr>
                </a:solidFill>
              </a:rPr>
              <a:t>What Is a Decision Tree?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70CA51-0DD2-58DF-5656-81E52C88EF5B}"/>
              </a:ext>
            </a:extLst>
          </p:cNvPr>
          <p:cNvSpPr/>
          <p:nvPr/>
        </p:nvSpPr>
        <p:spPr>
          <a:xfrm>
            <a:off x="289089" y="1233962"/>
            <a:ext cx="11613822" cy="1821588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D8A2D7-9473-8A3A-68F2-9F7480019ED7}"/>
              </a:ext>
            </a:extLst>
          </p:cNvPr>
          <p:cNvSpPr txBox="1"/>
          <p:nvPr/>
        </p:nvSpPr>
        <p:spPr>
          <a:xfrm>
            <a:off x="862553" y="1329148"/>
            <a:ext cx="1071356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A Decision Tree is a supervised machine learning algorithm used for classification and regression.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It makes predictions by following a sequence of questions or rules.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Each question divides the dataset into smaller groups.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The final outcome is displayed at the end of the tree.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960662-0325-7473-5C51-E40298AE6462}"/>
              </a:ext>
            </a:extLst>
          </p:cNvPr>
          <p:cNvSpPr txBox="1"/>
          <p:nvPr/>
        </p:nvSpPr>
        <p:spPr>
          <a:xfrm>
            <a:off x="282805" y="3150736"/>
            <a:ext cx="60378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Example: Loan Approval</a:t>
            </a:r>
          </a:p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A bank wants to predict whether a loan applicant is likely to repay a loan.</a:t>
            </a:r>
          </a:p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The model may ask: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Is the applicant's income above ₹50,000?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Is the applicant's credit score above 700?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Does the applicant have existing debt?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Based on the answers, the model predicts whether the applicant is likely to repay the loan.</a:t>
            </a:r>
          </a:p>
          <a:p>
            <a:pPr>
              <a:buNone/>
            </a:pP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Key takeaway: A Decision Tree works like a flowchart that makes decisions using data.</a:t>
            </a:r>
          </a:p>
        </p:txBody>
      </p:sp>
      <p:pic>
        <p:nvPicPr>
          <p:cNvPr id="11" name="Picture 10" descr="Feature Engineering for Time-Series Data: A Deep Yet Intuitive Guide. | by Karan_bhutani | Medium">
            <a:extLst>
              <a:ext uri="{FF2B5EF4-FFF2-40B4-BE49-F238E27FC236}">
                <a16:creationId xmlns:a16="http://schemas.microsoft.com/office/drawing/2014/main" id="{468CE9F2-A359-B102-1514-10A6D9433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334" y="3103143"/>
            <a:ext cx="5955638" cy="375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867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7CD1C-11C7-2BE8-5C2A-5627A51DC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F10C48-9970-A549-0F75-98A1A82209B0}"/>
              </a:ext>
            </a:extLst>
          </p:cNvPr>
          <p:cNvSpPr/>
          <p:nvPr/>
        </p:nvSpPr>
        <p:spPr>
          <a:xfrm>
            <a:off x="0" y="0"/>
            <a:ext cx="12192000" cy="8672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6A10F4-1317-8CC7-EB76-658361039BA2}"/>
              </a:ext>
            </a:extLst>
          </p:cNvPr>
          <p:cNvSpPr txBox="1"/>
          <p:nvPr/>
        </p:nvSpPr>
        <p:spPr>
          <a:xfrm>
            <a:off x="282805" y="172023"/>
            <a:ext cx="7843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5000"/>
                  </a:schemeClr>
                </a:solidFill>
              </a:rPr>
              <a:t>Root Nodes, Branches and Leaf Nodes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A279B8-8C62-9969-81DD-641AAE1B66DB}"/>
              </a:ext>
            </a:extLst>
          </p:cNvPr>
          <p:cNvSpPr txBox="1"/>
          <p:nvPr/>
        </p:nvSpPr>
        <p:spPr>
          <a:xfrm>
            <a:off x="722721" y="1039289"/>
            <a:ext cx="1033492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A Decision Tree consists of three main components.</a:t>
            </a:r>
          </a:p>
          <a:p>
            <a:endParaRPr lang="en-IN" sz="2000" b="1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1. Root Node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The starting point of the tree.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Represents the entire dataset.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Contains the first splitting question.</a:t>
            </a:r>
          </a:p>
          <a:p>
            <a:endParaRPr lang="en-IN" sz="20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2. Branches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Represent the possible outcomes of a question.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Divide the dataset into smaller groups.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Example: Income above ₹50,000 or income at or below ₹50,000.</a:t>
            </a:r>
          </a:p>
          <a:p>
            <a:endParaRPr lang="en-IN" sz="20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3. Leaf Nodes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Represent the final prediction.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No further splitting occurs at a leaf node.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Example: Approve Loan or Reject Loan.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71F395-F582-D000-6A3C-B71C01CB8D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63" t="41925" r="14407" b="24810"/>
          <a:stretch>
            <a:fillRect/>
          </a:stretch>
        </p:blipFill>
        <p:spPr>
          <a:xfrm>
            <a:off x="5656245" y="4664742"/>
            <a:ext cx="6535755" cy="2193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92AE9F-F32F-7DDE-C54C-34157F6274AD}"/>
              </a:ext>
            </a:extLst>
          </p:cNvPr>
          <p:cNvSpPr txBox="1"/>
          <p:nvPr/>
        </p:nvSpPr>
        <p:spPr>
          <a:xfrm>
            <a:off x="5874551" y="1928686"/>
            <a:ext cx="60991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Application: Banks, insurance companies and HR departments can use decision rules to support structured decisions.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F07C78-A328-BFE8-11D7-D65A82031DEA}"/>
              </a:ext>
            </a:extLst>
          </p:cNvPr>
          <p:cNvSpPr/>
          <p:nvPr/>
        </p:nvSpPr>
        <p:spPr>
          <a:xfrm>
            <a:off x="5656246" y="1791093"/>
            <a:ext cx="6317448" cy="126319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43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09354-89CE-6BD2-9A3F-2D8AC1565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7BE5E3-D7C6-8B7C-C120-BD442C855FF9}"/>
              </a:ext>
            </a:extLst>
          </p:cNvPr>
          <p:cNvSpPr/>
          <p:nvPr/>
        </p:nvSpPr>
        <p:spPr>
          <a:xfrm>
            <a:off x="0" y="0"/>
            <a:ext cx="12192000" cy="8672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DEAE12-F94C-11C9-1727-1FF103E2ABBA}"/>
              </a:ext>
            </a:extLst>
          </p:cNvPr>
          <p:cNvSpPr txBox="1"/>
          <p:nvPr/>
        </p:nvSpPr>
        <p:spPr>
          <a:xfrm>
            <a:off x="282805" y="172023"/>
            <a:ext cx="1150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5000"/>
                  </a:schemeClr>
                </a:solidFill>
              </a:rPr>
              <a:t>How Does a Decision Tree Choose a Split?</a:t>
            </a:r>
            <a:endParaRPr lang="en-IN" sz="25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211BD6-655A-019C-AE37-397E5EC02DEC}"/>
              </a:ext>
            </a:extLst>
          </p:cNvPr>
          <p:cNvSpPr txBox="1"/>
          <p:nvPr/>
        </p:nvSpPr>
        <p:spPr>
          <a:xfrm>
            <a:off x="353505" y="1039289"/>
            <a:ext cx="114362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A Decision Tree must decide which question should be asked at each node.</a:t>
            </a:r>
          </a:p>
          <a:p>
            <a:pPr>
              <a:buNone/>
            </a:pP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This process is called splitting.</a:t>
            </a:r>
          </a:p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The algorithm evaluates different possible splits and selects one that creates the most useful groups.</a:t>
            </a:r>
          </a:p>
          <a:p>
            <a:pPr>
              <a:buNone/>
            </a:pP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A good split </a:t>
            </a: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generally: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Separates different outcomes clearly.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Makes the resulting groups more homogeneous.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Reduces impurity in classification problems.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579457-95FB-ABB9-F486-919EA0E62171}"/>
              </a:ext>
            </a:extLst>
          </p:cNvPr>
          <p:cNvSpPr txBox="1"/>
          <p:nvPr/>
        </p:nvSpPr>
        <p:spPr>
          <a:xfrm>
            <a:off x="377858" y="3787387"/>
            <a:ext cx="114362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u="sng" dirty="0">
                <a:solidFill>
                  <a:schemeClr val="bg2">
                    <a:lumMod val="25000"/>
                  </a:schemeClr>
                </a:solidFill>
              </a:rPr>
              <a:t>Example: Customer Churn</a:t>
            </a:r>
          </a:p>
          <a:p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A telecom company wants to predict whether customers will leave.</a:t>
            </a:r>
          </a:p>
          <a:p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Possible splitting questions include: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Is the monthly bill above ₹1,500?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Has the customer contacted customer support more than three times?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Is the customer on a monthly contract?</a:t>
            </a:r>
          </a:p>
          <a:p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The algorithm compares these options and </a:t>
            </a: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selects a split based on a criterion such as Gini impurity or entropy</a:t>
            </a: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288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006DE-5891-D377-547D-987907E86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E5CD32-CC9E-4F99-5EDD-FF675448AD3B}"/>
              </a:ext>
            </a:extLst>
          </p:cNvPr>
          <p:cNvSpPr/>
          <p:nvPr/>
        </p:nvSpPr>
        <p:spPr>
          <a:xfrm>
            <a:off x="0" y="0"/>
            <a:ext cx="12192000" cy="8672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56092A-93E8-E8AA-2B89-9DEFC25E4DDA}"/>
              </a:ext>
            </a:extLst>
          </p:cNvPr>
          <p:cNvSpPr txBox="1"/>
          <p:nvPr/>
        </p:nvSpPr>
        <p:spPr>
          <a:xfrm>
            <a:off x="282805" y="172023"/>
            <a:ext cx="7843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5000"/>
                  </a:schemeClr>
                </a:solidFill>
              </a:rPr>
              <a:t>Understanding Gini Impurity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EDBEA5-C33F-3B4A-9FF9-36ACFCC45865}"/>
              </a:ext>
            </a:extLst>
          </p:cNvPr>
          <p:cNvSpPr txBox="1"/>
          <p:nvPr/>
        </p:nvSpPr>
        <p:spPr>
          <a:xfrm>
            <a:off x="339366" y="1039289"/>
            <a:ext cx="114944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Gini impurity measures how mixed the classes are within a group.</a:t>
            </a:r>
          </a:p>
          <a:p>
            <a:endParaRPr lang="en-IN" sz="2000" dirty="0">
              <a:solidFill>
                <a:schemeClr val="bg2">
                  <a:lumMod val="25000"/>
                </a:schemeClr>
              </a:solidFill>
            </a:endParaRPr>
          </a:p>
          <a:p>
            <a:pPr lvl="0"/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Gini = 0: The group contains only one class.</a:t>
            </a:r>
          </a:p>
          <a:p>
            <a:pPr lvl="0"/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Higher Gini: The group contains a mixture of classes.</a:t>
            </a:r>
          </a:p>
          <a:p>
            <a:pPr lvl="0"/>
            <a:endParaRPr lang="en-IN" sz="2000" dirty="0">
              <a:solidFill>
                <a:schemeClr val="bg2">
                  <a:lumMod val="25000"/>
                </a:schemeClr>
              </a:solidFill>
            </a:endParaRPr>
          </a:p>
          <a:p>
            <a:pPr lvl="0"/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A Decision Tree generally prefers splits that reduce the weighted Gini impurity of the resulting groups.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7FE618-200E-DB68-5457-D7F7D31E0828}"/>
              </a:ext>
            </a:extLst>
          </p:cNvPr>
          <p:cNvSpPr txBox="1"/>
          <p:nvPr/>
        </p:nvSpPr>
        <p:spPr>
          <a:xfrm>
            <a:off x="419493" y="3150304"/>
            <a:ext cx="609914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u="sng" dirty="0">
                <a:solidFill>
                  <a:schemeClr val="bg2">
                    <a:lumMod val="25000"/>
                  </a:schemeClr>
                </a:solidFill>
              </a:rPr>
              <a:t>Example: Loan Repayment</a:t>
            </a:r>
          </a:p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Suppose a group contains 10 loan applicants: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10 will repay their loans.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0 will default.</a:t>
            </a:r>
          </a:p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This group has zero impurity because every applicant belongs to the same class.</a:t>
            </a:r>
          </a:p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Now consider another group: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5 will repay their loans.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5 will default.</a:t>
            </a:r>
          </a:p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This group has greater impurity because the outcomes are evenly mixed.</a:t>
            </a:r>
          </a:p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For a two-class problem, Gini impurity is calculated as: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50BAB9-5F73-4CE6-6B78-8E40D6D64A06}"/>
              </a:ext>
            </a:extLst>
          </p:cNvPr>
          <p:cNvSpPr/>
          <p:nvPr/>
        </p:nvSpPr>
        <p:spPr>
          <a:xfrm>
            <a:off x="282805" y="1039289"/>
            <a:ext cx="11494416" cy="193899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BCE858-20CB-C062-BE5D-B3C6CC18EE3E}"/>
              </a:ext>
            </a:extLst>
          </p:cNvPr>
          <p:cNvSpPr txBox="1"/>
          <p:nvPr/>
        </p:nvSpPr>
        <p:spPr>
          <a:xfrm>
            <a:off x="6518635" y="3879720"/>
            <a:ext cx="55649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Gini = 1-[(p1)^2+(p2)^2)]</a:t>
            </a:r>
          </a:p>
          <a:p>
            <a:pPr>
              <a:buNone/>
            </a:pPr>
            <a:endParaRPr lang="en-IN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Here, (p1) and (p2) are the proportions of the two classes.</a:t>
            </a:r>
          </a:p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Interpretation: A bank prefers splits that separate low-risk and high-risk borrowers into clearer groups.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BF8F45-DD4B-D78A-1A96-489F4C7B1AEC}"/>
              </a:ext>
            </a:extLst>
          </p:cNvPr>
          <p:cNvSpPr/>
          <p:nvPr/>
        </p:nvSpPr>
        <p:spPr>
          <a:xfrm>
            <a:off x="7814821" y="3808429"/>
            <a:ext cx="3073138" cy="57503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700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E493F-E9FA-5A3C-9F22-3A41115E5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4FF828-6F84-231E-6045-DF483557587D}"/>
              </a:ext>
            </a:extLst>
          </p:cNvPr>
          <p:cNvSpPr/>
          <p:nvPr/>
        </p:nvSpPr>
        <p:spPr>
          <a:xfrm>
            <a:off x="0" y="0"/>
            <a:ext cx="12192000" cy="8672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2F52F7-50E1-B6B0-B3F6-ACBA47EDEE8E}"/>
              </a:ext>
            </a:extLst>
          </p:cNvPr>
          <p:cNvSpPr txBox="1"/>
          <p:nvPr/>
        </p:nvSpPr>
        <p:spPr>
          <a:xfrm>
            <a:off x="282805" y="172023"/>
            <a:ext cx="7843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5000"/>
                  </a:schemeClr>
                </a:solidFill>
              </a:rPr>
              <a:t>Understanding Entropy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FE358E-9103-C49C-2E4B-4B4E9D17D8B1}"/>
              </a:ext>
            </a:extLst>
          </p:cNvPr>
          <p:cNvSpPr txBox="1"/>
          <p:nvPr/>
        </p:nvSpPr>
        <p:spPr>
          <a:xfrm>
            <a:off x="339366" y="1039289"/>
            <a:ext cx="114944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Entropy measures the uncertainty or disorder in a group.</a:t>
            </a:r>
          </a:p>
          <a:p>
            <a:endParaRPr lang="en-IN" sz="2000" dirty="0">
              <a:solidFill>
                <a:schemeClr val="bg2">
                  <a:lumMod val="25000"/>
                </a:schemeClr>
              </a:solidFill>
            </a:endParaRPr>
          </a:p>
          <a:p>
            <a:pPr lvl="0"/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Entropy = 0: There is no uncertainty because the group contains only one class.</a:t>
            </a:r>
          </a:p>
          <a:p>
            <a:pPr lvl="0"/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Higher entropy: There is greater uncertainty about the class of an observation.</a:t>
            </a:r>
          </a:p>
          <a:p>
            <a:pPr lvl="0"/>
            <a:endParaRPr lang="en-IN" sz="2000" b="1" dirty="0">
              <a:solidFill>
                <a:schemeClr val="bg2">
                  <a:lumMod val="25000"/>
                </a:schemeClr>
              </a:solidFill>
            </a:endParaRPr>
          </a:p>
          <a:p>
            <a:pPr lvl="0"/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A Decision Tree can use entropy to identify splits that produce a large reduction in uncertainty.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381AEB-09BF-9FFB-0447-2211ED72823F}"/>
              </a:ext>
            </a:extLst>
          </p:cNvPr>
          <p:cNvSpPr/>
          <p:nvPr/>
        </p:nvSpPr>
        <p:spPr>
          <a:xfrm>
            <a:off x="282805" y="1039289"/>
            <a:ext cx="11494416" cy="193899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CB084C-9849-37A1-D929-150EE3B8C3B0}"/>
              </a:ext>
            </a:extLst>
          </p:cNvPr>
          <p:cNvSpPr txBox="1"/>
          <p:nvPr/>
        </p:nvSpPr>
        <p:spPr>
          <a:xfrm>
            <a:off x="483910" y="3150303"/>
            <a:ext cx="55649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The reduction in entropy is called </a:t>
            </a: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Information Gain.</a:t>
            </a:r>
          </a:p>
          <a:p>
            <a:endParaRPr lang="en-IN" b="1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 IG = H(Parent)-Weighted H(Children)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989445F-A550-ECAB-294F-1FDA931EBF6E}"/>
              </a:ext>
            </a:extLst>
          </p:cNvPr>
          <p:cNvSpPr/>
          <p:nvPr/>
        </p:nvSpPr>
        <p:spPr>
          <a:xfrm>
            <a:off x="493336" y="3611968"/>
            <a:ext cx="3871273" cy="57503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B0177E-57D4-7899-A1D1-6D82AB71510A}"/>
              </a:ext>
            </a:extLst>
          </p:cNvPr>
          <p:cNvSpPr txBox="1"/>
          <p:nvPr/>
        </p:nvSpPr>
        <p:spPr>
          <a:xfrm>
            <a:off x="6030013" y="3310558"/>
            <a:ext cx="609914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Ex : Marketing Campaign</a:t>
            </a:r>
          </a:p>
          <a:p>
            <a:pPr>
              <a:buNone/>
            </a:pPr>
            <a:endParaRPr lang="en-IN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A company wants to predict whether customers will respond to a campaign.</a:t>
            </a:r>
          </a:p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If a group contains only customers who responded, the outcome is certain and entropy is zero.</a:t>
            </a:r>
          </a:p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If half responded and half did not, uncertainty is high.</a:t>
            </a:r>
          </a:p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The algorithm looks for a question, such as customer age group or past purchase history, that reduces this uncertainty.</a:t>
            </a:r>
          </a:p>
        </p:txBody>
      </p:sp>
    </p:spTree>
    <p:extLst>
      <p:ext uri="{BB962C8B-B14F-4D97-AF65-F5344CB8AC3E}">
        <p14:creationId xmlns:p14="http://schemas.microsoft.com/office/powerpoint/2010/main" val="3668473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3FDF7-B76D-AD77-A561-65C9134FF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D268BB-6863-D7BA-4AEE-564C48F982A5}"/>
              </a:ext>
            </a:extLst>
          </p:cNvPr>
          <p:cNvSpPr/>
          <p:nvPr/>
        </p:nvSpPr>
        <p:spPr>
          <a:xfrm>
            <a:off x="0" y="0"/>
            <a:ext cx="12192000" cy="8672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1972B0-1533-C25C-2F09-B2EC3D44C3A0}"/>
              </a:ext>
            </a:extLst>
          </p:cNvPr>
          <p:cNvSpPr txBox="1"/>
          <p:nvPr/>
        </p:nvSpPr>
        <p:spPr>
          <a:xfrm>
            <a:off x="282805" y="172023"/>
            <a:ext cx="7843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5000"/>
                  </a:schemeClr>
                </a:solidFill>
              </a:rPr>
              <a:t>Gini vs. Entropy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EA315AC-58BE-30D7-D4FF-F509C6C13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70938"/>
              </p:ext>
            </p:extLst>
          </p:nvPr>
        </p:nvGraphicFramePr>
        <p:xfrm>
          <a:off x="293688" y="1223644"/>
          <a:ext cx="11604624" cy="34237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02312">
                  <a:extLst>
                    <a:ext uri="{9D8B030D-6E8A-4147-A177-3AD203B41FA5}">
                      <a16:colId xmlns:a16="http://schemas.microsoft.com/office/drawing/2014/main" val="2944633627"/>
                    </a:ext>
                  </a:extLst>
                </a:gridCol>
                <a:gridCol w="5802312">
                  <a:extLst>
                    <a:ext uri="{9D8B030D-6E8A-4147-A177-3AD203B41FA5}">
                      <a16:colId xmlns:a16="http://schemas.microsoft.com/office/drawing/2014/main" val="11112920"/>
                    </a:ext>
                  </a:extLst>
                </a:gridCol>
              </a:tblGrid>
              <a:tr h="684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Gini Impurity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Entropy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614736"/>
                  </a:ext>
                </a:extLst>
              </a:tr>
              <a:tr h="684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Measures class impurity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Measures uncertainty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4877082"/>
                  </a:ext>
                </a:extLst>
              </a:tr>
              <a:tr h="684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Uses squared class probabilities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Uses logarithms of class probabilities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0553804"/>
                  </a:ext>
                </a:extLst>
              </a:tr>
              <a:tr h="684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Lower values are better for a resulting 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Lower values are better for a resulting group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6772426"/>
                  </a:ext>
                </a:extLst>
              </a:tr>
              <a:tr h="684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Commonly used for efficient splitting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Commonly used with information gain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27493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AAD4E8F-4787-9FA1-535E-2CC26DF9834E}"/>
              </a:ext>
            </a:extLst>
          </p:cNvPr>
          <p:cNvSpPr txBox="1"/>
          <p:nvPr/>
        </p:nvSpPr>
        <p:spPr>
          <a:xfrm>
            <a:off x="2870462" y="5229222"/>
            <a:ext cx="60991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Key takeaway:</a:t>
            </a: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 Both criteria help a Decision Tree identify useful splits. They often produce similar trees.</a:t>
            </a:r>
          </a:p>
        </p:txBody>
      </p:sp>
    </p:spTree>
    <p:extLst>
      <p:ext uri="{BB962C8B-B14F-4D97-AF65-F5344CB8AC3E}">
        <p14:creationId xmlns:p14="http://schemas.microsoft.com/office/powerpoint/2010/main" val="2176264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DFC6F-FB19-FFAB-C724-8A0CF9097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42AA2D-842F-7092-984A-2E803FD27A18}"/>
              </a:ext>
            </a:extLst>
          </p:cNvPr>
          <p:cNvSpPr/>
          <p:nvPr/>
        </p:nvSpPr>
        <p:spPr>
          <a:xfrm>
            <a:off x="0" y="0"/>
            <a:ext cx="12192000" cy="8672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7CF7AE-13E8-A7A0-575F-7C44E5EECE85}"/>
              </a:ext>
            </a:extLst>
          </p:cNvPr>
          <p:cNvSpPr txBox="1"/>
          <p:nvPr/>
        </p:nvSpPr>
        <p:spPr>
          <a:xfrm>
            <a:off x="282805" y="172023"/>
            <a:ext cx="7843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5000"/>
                  </a:schemeClr>
                </a:solidFill>
              </a:rPr>
              <a:t>What Is Tree Depth?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BF9FCA-DFD6-AA86-90F3-1C2CE67B405D}"/>
              </a:ext>
            </a:extLst>
          </p:cNvPr>
          <p:cNvSpPr txBox="1"/>
          <p:nvPr/>
        </p:nvSpPr>
        <p:spPr>
          <a:xfrm>
            <a:off x="339366" y="1039289"/>
            <a:ext cx="11494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Tree depth refers to the number of decision levels between the root and a node.</a:t>
            </a:r>
          </a:p>
          <a:p>
            <a:endParaRPr lang="en-IN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Shallow tree:</a:t>
            </a: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 Uses fewer decision levels and simpler rules.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Deep tree: </a:t>
            </a: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Uses more decision levels and more detailed rules.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4A9840-FF8C-E0BA-6B6D-CD0DDEF20694}"/>
              </a:ext>
            </a:extLst>
          </p:cNvPr>
          <p:cNvSpPr/>
          <p:nvPr/>
        </p:nvSpPr>
        <p:spPr>
          <a:xfrm>
            <a:off x="282805" y="1039290"/>
            <a:ext cx="11494416" cy="12891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CC9F26-33B8-7826-27BD-6E375F328F80}"/>
              </a:ext>
            </a:extLst>
          </p:cNvPr>
          <p:cNvSpPr txBox="1"/>
          <p:nvPr/>
        </p:nvSpPr>
        <p:spPr>
          <a:xfrm>
            <a:off x="1712537" y="2647872"/>
            <a:ext cx="83364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u="sng" dirty="0">
                <a:solidFill>
                  <a:schemeClr val="bg2">
                    <a:lumMod val="25000"/>
                  </a:schemeClr>
                </a:solidFill>
              </a:rPr>
              <a:t>Ex: Customer Churn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A shallow tree may predict churn using only contract type and customer tenure.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A deeper tree may also consider monthly charges, support calls, payment history and numerous combinations of these factors.</a:t>
            </a:r>
          </a:p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Advantages of a shallow tree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Easy to explain.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Faster to interpret.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Less likely to memorize the training data.</a:t>
            </a:r>
          </a:p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Advantages of a deeper tree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Can capture complex patterns.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Can identify detailed customer segments.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May fit the training data more closely.</a:t>
            </a:r>
          </a:p>
        </p:txBody>
      </p:sp>
    </p:spTree>
    <p:extLst>
      <p:ext uri="{BB962C8B-B14F-4D97-AF65-F5344CB8AC3E}">
        <p14:creationId xmlns:p14="http://schemas.microsoft.com/office/powerpoint/2010/main" val="987101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1BC16-E92B-5290-0679-78C2937BD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AC7A22-E2FB-10B8-25B3-18B6993B4057}"/>
              </a:ext>
            </a:extLst>
          </p:cNvPr>
          <p:cNvSpPr/>
          <p:nvPr/>
        </p:nvSpPr>
        <p:spPr>
          <a:xfrm>
            <a:off x="0" y="0"/>
            <a:ext cx="12192000" cy="8672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80B3FB-073A-8CFD-2FD1-A6410C9893CA}"/>
              </a:ext>
            </a:extLst>
          </p:cNvPr>
          <p:cNvSpPr txBox="1"/>
          <p:nvPr/>
        </p:nvSpPr>
        <p:spPr>
          <a:xfrm>
            <a:off x="282805" y="172023"/>
            <a:ext cx="7843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5000"/>
                  </a:schemeClr>
                </a:solidFill>
              </a:rPr>
              <a:t>What Is a Random Forest?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2D2A6F-0E19-6E98-077D-2C6B1C62EE1E}"/>
              </a:ext>
            </a:extLst>
          </p:cNvPr>
          <p:cNvSpPr txBox="1"/>
          <p:nvPr/>
        </p:nvSpPr>
        <p:spPr>
          <a:xfrm>
            <a:off x="339366" y="1039289"/>
            <a:ext cx="11494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Random Forest is a supervised machine learning algorithm that combines multiple Decision Trees to make a prediction.</a:t>
            </a:r>
          </a:p>
          <a:p>
            <a:endParaRPr lang="en-IN" sz="20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Instead of depending on one tree, it builds many trees and combines their results.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CB4A0B-CCC4-C9AF-0169-BC15D6861E65}"/>
              </a:ext>
            </a:extLst>
          </p:cNvPr>
          <p:cNvSpPr/>
          <p:nvPr/>
        </p:nvSpPr>
        <p:spPr>
          <a:xfrm>
            <a:off x="282805" y="1039290"/>
            <a:ext cx="11494416" cy="12891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79614D-B82C-ED73-B2D5-DA7882524AD9}"/>
              </a:ext>
            </a:extLst>
          </p:cNvPr>
          <p:cNvSpPr txBox="1"/>
          <p:nvPr/>
        </p:nvSpPr>
        <p:spPr>
          <a:xfrm>
            <a:off x="452487" y="3119214"/>
            <a:ext cx="48170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How it works: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Create multiple samples from the training dataset.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Train a Decision Tree on each sample.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Introduce randomness in the features considered for splitting.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Combine the predictions from all trees.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9EB632-5A73-20A4-CB93-F0BEFACFF3BD}"/>
              </a:ext>
            </a:extLst>
          </p:cNvPr>
          <p:cNvSpPr txBox="1"/>
          <p:nvPr/>
        </p:nvSpPr>
        <p:spPr>
          <a:xfrm>
            <a:off x="5808483" y="2704433"/>
            <a:ext cx="481709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u="sng" dirty="0">
                <a:solidFill>
                  <a:schemeClr val="bg2">
                    <a:lumMod val="25000"/>
                  </a:schemeClr>
                </a:solidFill>
              </a:rPr>
              <a:t>Example: Loan Default Prediction</a:t>
            </a:r>
          </a:p>
          <a:p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A bank trains 100 Decision Trees to predict whether a borrower will default.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72 trees predict No Default.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28 trees predict Default.</a:t>
            </a:r>
          </a:p>
          <a:p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The Random Forest predicts No Default using majority voting.</a:t>
            </a:r>
          </a:p>
          <a:p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The final prediction depends on the combined decisions rather than a single tree.</a:t>
            </a:r>
          </a:p>
          <a:p>
            <a:r>
              <a:rPr lang="en-IN" u="sng" dirty="0">
                <a:solidFill>
                  <a:schemeClr val="bg2">
                    <a:lumMod val="25000"/>
                  </a:schemeClr>
                </a:solidFill>
              </a:rPr>
              <a:t>Key takeaway: Random Forest uses a collection of trees to produce a more robust prediction</a:t>
            </a: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78E46D-A90A-7257-78EF-4B6113A70B77}"/>
              </a:ext>
            </a:extLst>
          </p:cNvPr>
          <p:cNvSpPr/>
          <p:nvPr/>
        </p:nvSpPr>
        <p:spPr>
          <a:xfrm>
            <a:off x="282805" y="2670127"/>
            <a:ext cx="4986778" cy="328761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4FBCE6-DEEC-7972-C497-09678010622A}"/>
              </a:ext>
            </a:extLst>
          </p:cNvPr>
          <p:cNvSpPr/>
          <p:nvPr/>
        </p:nvSpPr>
        <p:spPr>
          <a:xfrm>
            <a:off x="5638801" y="2670126"/>
            <a:ext cx="6138420" cy="328761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481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92DB5-CA38-4471-3814-3B6EE5E16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DED0EF-A966-8004-56FB-2814F77126A9}"/>
              </a:ext>
            </a:extLst>
          </p:cNvPr>
          <p:cNvSpPr/>
          <p:nvPr/>
        </p:nvSpPr>
        <p:spPr>
          <a:xfrm>
            <a:off x="0" y="0"/>
            <a:ext cx="12192000" cy="8672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CD8DF6-3404-BA5B-990C-67EE09EF973F}"/>
              </a:ext>
            </a:extLst>
          </p:cNvPr>
          <p:cNvSpPr txBox="1"/>
          <p:nvPr/>
        </p:nvSpPr>
        <p:spPr>
          <a:xfrm>
            <a:off x="282805" y="172023"/>
            <a:ext cx="7843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5000"/>
                  </a:schemeClr>
                </a:solidFill>
              </a:rPr>
              <a:t>What Is a Random Forest?</a:t>
            </a:r>
          </a:p>
        </p:txBody>
      </p:sp>
      <p:pic>
        <p:nvPicPr>
          <p:cNvPr id="10" name="Picture 9" descr="Virtual Labs">
            <a:extLst>
              <a:ext uri="{FF2B5EF4-FFF2-40B4-BE49-F238E27FC236}">
                <a16:creationId xmlns:a16="http://schemas.microsoft.com/office/drawing/2014/main" id="{6A2AE7B5-2F78-9BD9-68CA-98B8E73C8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82" y="1039289"/>
            <a:ext cx="10324708" cy="563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959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D330F-05DA-52F3-80B1-0CC684B4F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6D6D51-ECD2-3831-B731-A2AB8336CD27}"/>
              </a:ext>
            </a:extLst>
          </p:cNvPr>
          <p:cNvSpPr/>
          <p:nvPr/>
        </p:nvSpPr>
        <p:spPr>
          <a:xfrm>
            <a:off x="0" y="0"/>
            <a:ext cx="12192000" cy="8672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5D159-F6FF-95CE-932F-89C797CEF4E0}"/>
              </a:ext>
            </a:extLst>
          </p:cNvPr>
          <p:cNvSpPr txBox="1"/>
          <p:nvPr/>
        </p:nvSpPr>
        <p:spPr>
          <a:xfrm>
            <a:off x="282805" y="172023"/>
            <a:ext cx="9926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5000"/>
                  </a:schemeClr>
                </a:solidFill>
              </a:rPr>
              <a:t>How Does Random Forest Make Its Final Prediction?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D63577-3A2D-2FFB-87B4-DF82675D99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496618"/>
              </p:ext>
            </p:extLst>
          </p:nvPr>
        </p:nvGraphicFramePr>
        <p:xfrm>
          <a:off x="518473" y="2087138"/>
          <a:ext cx="7192654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96327">
                  <a:extLst>
                    <a:ext uri="{9D8B030D-6E8A-4147-A177-3AD203B41FA5}">
                      <a16:colId xmlns:a16="http://schemas.microsoft.com/office/drawing/2014/main" val="650360749"/>
                    </a:ext>
                  </a:extLst>
                </a:gridCol>
                <a:gridCol w="3596327">
                  <a:extLst>
                    <a:ext uri="{9D8B030D-6E8A-4147-A177-3AD203B41FA5}">
                      <a16:colId xmlns:a16="http://schemas.microsoft.com/office/drawing/2014/main" val="953868737"/>
                    </a:ext>
                  </a:extLst>
                </a:gridCol>
              </a:tblGrid>
              <a:tr h="257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6755282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Tree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Churn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25344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Tree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1777031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Tree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Churn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9308257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Tree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Churn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9914225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Tree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Stay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77385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E0E5910-1E5C-55D7-B49C-18D66CDB3EEC}"/>
              </a:ext>
            </a:extLst>
          </p:cNvPr>
          <p:cNvSpPr txBox="1"/>
          <p:nvPr/>
        </p:nvSpPr>
        <p:spPr>
          <a:xfrm>
            <a:off x="370787" y="1225689"/>
            <a:ext cx="11821213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Random Forest combines the predictions of its individual trees.</a:t>
            </a:r>
          </a:p>
          <a:p>
            <a:pPr>
              <a:buNone/>
            </a:pPr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For classification: Majority voting</a:t>
            </a:r>
          </a:p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Example: Predict whether a customer will leave.</a:t>
            </a:r>
          </a:p>
          <a:p>
            <a:pPr>
              <a:buNone/>
            </a:pPr>
            <a:endParaRPr lang="en-IN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buNone/>
            </a:pPr>
            <a:endParaRPr lang="en-IN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buNone/>
            </a:pPr>
            <a:endParaRPr lang="en-IN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buNone/>
            </a:pPr>
            <a:endParaRPr lang="en-IN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buNone/>
            </a:pPr>
            <a:endParaRPr lang="en-IN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buNone/>
            </a:pPr>
            <a:endParaRPr lang="en-IN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buNone/>
            </a:pPr>
            <a:endParaRPr lang="en-IN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buNone/>
            </a:pPr>
            <a:endParaRPr lang="en-IN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Final prediction: Churn, because 3 out of 5 trees predict churn.</a:t>
            </a:r>
          </a:p>
          <a:p>
            <a:pPr>
              <a:buNone/>
            </a:pPr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For regression: Average prediction</a:t>
            </a:r>
          </a:p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Suppose five trees predict monthly sales of:</a:t>
            </a:r>
          </a:p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₹90,000, ₹1,00,000, ₹95,000, ₹1,05,000 and ₹1,10,000.</a:t>
            </a:r>
          </a:p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The final prediction is their average:</a:t>
            </a:r>
          </a:p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[ 90+100+95+105+110] / 5 =100 ]</a:t>
            </a:r>
          </a:p>
          <a:p>
            <a:pPr>
              <a:buNone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Final predicted sales = ₹1,00,000.</a:t>
            </a:r>
          </a:p>
          <a:p>
            <a:pPr>
              <a:buNone/>
            </a:pP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Key takeaway: Classification usually combines votes or class probabilities, while regression usually averages numerical predictions.</a:t>
            </a:r>
          </a:p>
        </p:txBody>
      </p:sp>
    </p:spTree>
    <p:extLst>
      <p:ext uri="{BB962C8B-B14F-4D97-AF65-F5344CB8AC3E}">
        <p14:creationId xmlns:p14="http://schemas.microsoft.com/office/powerpoint/2010/main" val="3600833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20836-C632-0874-91B0-8B402A46A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E11078-A913-01EA-3C82-2BB0487CCB7A}"/>
              </a:ext>
            </a:extLst>
          </p:cNvPr>
          <p:cNvSpPr/>
          <p:nvPr/>
        </p:nvSpPr>
        <p:spPr>
          <a:xfrm>
            <a:off x="0" y="0"/>
            <a:ext cx="12192000" cy="8672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4124B-F751-642D-D995-CE4F171A2DDD}"/>
              </a:ext>
            </a:extLst>
          </p:cNvPr>
          <p:cNvSpPr txBox="1"/>
          <p:nvPr/>
        </p:nvSpPr>
        <p:spPr>
          <a:xfrm>
            <a:off x="282805" y="172023"/>
            <a:ext cx="7843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5000"/>
                  </a:schemeClr>
                </a:solidFill>
              </a:rPr>
              <a:t>What Is a Support Vector Machine?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885F76-6EB7-BDC2-C319-8F19CB9110BF}"/>
              </a:ext>
            </a:extLst>
          </p:cNvPr>
          <p:cNvSpPr txBox="1"/>
          <p:nvPr/>
        </p:nvSpPr>
        <p:spPr>
          <a:xfrm>
            <a:off x="353504" y="1039289"/>
            <a:ext cx="11618537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Support Vector Machine (SVM) is a supervised machine learning algorithm primarily used for classification. </a:t>
            </a:r>
          </a:p>
          <a:p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SVM attempts to find a decision boundary that separates classes while maximizing the margin between them.</a:t>
            </a:r>
          </a:p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Ex : Loan Risk Classification</a:t>
            </a:r>
          </a:p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A bank wants to classify customers as: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Low risk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High risk</a:t>
            </a:r>
          </a:p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Using features such as income and debt ratio, SVM attempts to identify a boundary that separates the two groups.</a:t>
            </a:r>
          </a:p>
          <a:p>
            <a:r>
              <a:rPr lang="en-IN" sz="2000" u="sng" dirty="0">
                <a:solidFill>
                  <a:schemeClr val="bg2">
                    <a:lumMod val="25000"/>
                  </a:schemeClr>
                </a:solidFill>
              </a:rPr>
              <a:t>Key characteristics: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Uses a decision boundary to separate classes.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Focuses on the margin around that boundary.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Can model nonlinear boundaries through kernel functions.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Often benefits from feature scaling.</a:t>
            </a:r>
          </a:p>
          <a:p>
            <a:pPr lvl="0"/>
            <a:endParaRPr lang="en-IN" sz="20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IN" sz="2000" u="sng" dirty="0">
                <a:solidFill>
                  <a:schemeClr val="bg2">
                    <a:lumMod val="25000"/>
                  </a:schemeClr>
                </a:solidFill>
              </a:rPr>
              <a:t>Key takeaway: SVM aims to find a boundary that separates classes with a large margin.</a:t>
            </a:r>
          </a:p>
        </p:txBody>
      </p:sp>
    </p:spTree>
    <p:extLst>
      <p:ext uri="{BB962C8B-B14F-4D97-AF65-F5344CB8AC3E}">
        <p14:creationId xmlns:p14="http://schemas.microsoft.com/office/powerpoint/2010/main" val="1334105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F66A8-11D6-E31E-B2B9-9BFF5820D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E4E2F2-67BF-53D8-15B1-3B4D6D039A90}"/>
              </a:ext>
            </a:extLst>
          </p:cNvPr>
          <p:cNvSpPr/>
          <p:nvPr/>
        </p:nvSpPr>
        <p:spPr>
          <a:xfrm>
            <a:off x="0" y="0"/>
            <a:ext cx="12192000" cy="8672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637312-D084-1D38-D8C0-EBC73AACC0BC}"/>
              </a:ext>
            </a:extLst>
          </p:cNvPr>
          <p:cNvSpPr txBox="1"/>
          <p:nvPr/>
        </p:nvSpPr>
        <p:spPr>
          <a:xfrm>
            <a:off x="282805" y="172023"/>
            <a:ext cx="7843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5000"/>
                  </a:schemeClr>
                </a:solidFill>
              </a:rPr>
              <a:t>What Is a Support Vector Machine?</a:t>
            </a:r>
          </a:p>
        </p:txBody>
      </p:sp>
      <p:pic>
        <p:nvPicPr>
          <p:cNvPr id="2" name="Picture 1" descr="Support Vector Classifier (SVC) — The Ultimate Margin-Based Classifier | by Charan Sandaka | Medium">
            <a:extLst>
              <a:ext uri="{FF2B5EF4-FFF2-40B4-BE49-F238E27FC236}">
                <a16:creationId xmlns:a16="http://schemas.microsoft.com/office/drawing/2014/main" id="{4C45B2FE-68BD-FAF0-826A-4A7121A55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95" y="940421"/>
            <a:ext cx="10406210" cy="574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509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07325-8325-33FE-AD49-11BC7333A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BA69C3-7978-C090-C3B4-4D6005E640B6}"/>
              </a:ext>
            </a:extLst>
          </p:cNvPr>
          <p:cNvSpPr/>
          <p:nvPr/>
        </p:nvSpPr>
        <p:spPr>
          <a:xfrm>
            <a:off x="0" y="0"/>
            <a:ext cx="12192000" cy="8672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7A7D51-E738-207B-3578-9C9ADE689123}"/>
              </a:ext>
            </a:extLst>
          </p:cNvPr>
          <p:cNvSpPr txBox="1"/>
          <p:nvPr/>
        </p:nvSpPr>
        <p:spPr>
          <a:xfrm>
            <a:off x="282805" y="172023"/>
            <a:ext cx="7843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5000"/>
                  </a:schemeClr>
                </a:solidFill>
              </a:rPr>
              <a:t>Understanding Classification Boundaries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44164F-DC8B-31CA-DF96-8C1763CE4136}"/>
              </a:ext>
            </a:extLst>
          </p:cNvPr>
          <p:cNvSpPr txBox="1"/>
          <p:nvPr/>
        </p:nvSpPr>
        <p:spPr>
          <a:xfrm>
            <a:off x="353504" y="1039289"/>
            <a:ext cx="11618537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A classification boundary is the line, plane or higher-dimensional surface used to separate different classes.</a:t>
            </a:r>
          </a:p>
          <a:p>
            <a:endParaRPr lang="en-IN" sz="20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IN" sz="2000" u="sng" dirty="0">
                <a:solidFill>
                  <a:schemeClr val="bg2">
                    <a:lumMod val="25000"/>
                  </a:schemeClr>
                </a:solidFill>
              </a:rPr>
              <a:t>Example: Marketing Response Prediction</a:t>
            </a:r>
          </a:p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A company predicts whether a customer will respond to a campaign using:</a:t>
            </a:r>
          </a:p>
          <a:p>
            <a:pPr lvl="0"/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X-axis: Monthly spending</a:t>
            </a:r>
          </a:p>
          <a:p>
            <a:pPr lvl="0"/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Y-axis: Number of previous purchases</a:t>
            </a:r>
          </a:p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Each customer is represented as a point.</a:t>
            </a:r>
          </a:p>
          <a:p>
            <a:endParaRPr lang="en-IN" sz="20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SVM attempts to draw a boundary that separates responders from non-responders.</a:t>
            </a:r>
          </a:p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Depending on the data, the boundary may be: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A straight line in two dimensions.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A plane in three dimensions.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A more complex surface in higher dimensions.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Important: Real-world data may not be perfectly separable. SVM can use a soft margin to allow some classification errors rather than forcing every point to be correctly separated.</a:t>
            </a:r>
          </a:p>
        </p:txBody>
      </p:sp>
    </p:spTree>
    <p:extLst>
      <p:ext uri="{BB962C8B-B14F-4D97-AF65-F5344CB8AC3E}">
        <p14:creationId xmlns:p14="http://schemas.microsoft.com/office/powerpoint/2010/main" val="976582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CF8B2-D21C-4640-2664-A89D56210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F925DB-FF58-73F5-87CA-04999BEC548F}"/>
              </a:ext>
            </a:extLst>
          </p:cNvPr>
          <p:cNvSpPr/>
          <p:nvPr/>
        </p:nvSpPr>
        <p:spPr>
          <a:xfrm>
            <a:off x="0" y="0"/>
            <a:ext cx="12192000" cy="8672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15857-A527-5709-B0EE-6738C773C71F}"/>
              </a:ext>
            </a:extLst>
          </p:cNvPr>
          <p:cNvSpPr txBox="1"/>
          <p:nvPr/>
        </p:nvSpPr>
        <p:spPr>
          <a:xfrm>
            <a:off x="282805" y="172023"/>
            <a:ext cx="7843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5000"/>
                  </a:schemeClr>
                </a:solidFill>
              </a:rPr>
              <a:t>What Are Support Vectors?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A49B83-F3D6-1138-17F2-C2732561E24D}"/>
              </a:ext>
            </a:extLst>
          </p:cNvPr>
          <p:cNvSpPr txBox="1"/>
          <p:nvPr/>
        </p:nvSpPr>
        <p:spPr>
          <a:xfrm>
            <a:off x="353504" y="1039289"/>
            <a:ext cx="11618537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Support vectors are the training observations that determine or constrain the position of the SVM decision boundary.</a:t>
            </a:r>
          </a:p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They are generally the observations closest to the boundary or within the margin region.</a:t>
            </a:r>
          </a:p>
          <a:p>
            <a:endParaRPr lang="en-IN" sz="20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IN" sz="2000" u="sng" dirty="0">
                <a:solidFill>
                  <a:schemeClr val="bg2">
                    <a:lumMod val="25000"/>
                  </a:schemeClr>
                </a:solidFill>
              </a:rPr>
              <a:t>Example: Loan Classification</a:t>
            </a:r>
          </a:p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Imagine two groups of loan applicants: low-risk and high-risk.</a:t>
            </a:r>
          </a:p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Most applicants may be far from the decision boundary. A smaller number of applicants near the boundary are more influential in determining its position.</a:t>
            </a:r>
          </a:p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Those influential observations are the support vectors.</a:t>
            </a:r>
          </a:p>
          <a:p>
            <a:endParaRPr lang="en-IN" sz="20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IN" sz="2000" u="sng" dirty="0">
                <a:solidFill>
                  <a:schemeClr val="bg2">
                    <a:lumMod val="25000"/>
                  </a:schemeClr>
                </a:solidFill>
              </a:rPr>
              <a:t>Why are they important?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They help determine the location of the decision boundary.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Their positions influence the maximum margin.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Moving or removing certain support vectors can change the fitted boundary.</a:t>
            </a:r>
          </a:p>
          <a:p>
            <a:endParaRPr lang="en-IN" sz="20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Key takeaway: SVM's boundary is especially influenced by the observations near the class separation, not equally by every training observation.</a:t>
            </a:r>
          </a:p>
        </p:txBody>
      </p:sp>
    </p:spTree>
    <p:extLst>
      <p:ext uri="{BB962C8B-B14F-4D97-AF65-F5344CB8AC3E}">
        <p14:creationId xmlns:p14="http://schemas.microsoft.com/office/powerpoint/2010/main" val="376047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57055-956E-56A0-620C-4B97785CB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615F3A-42D0-2369-0EBC-307036E155D7}"/>
              </a:ext>
            </a:extLst>
          </p:cNvPr>
          <p:cNvSpPr/>
          <p:nvPr/>
        </p:nvSpPr>
        <p:spPr>
          <a:xfrm>
            <a:off x="0" y="0"/>
            <a:ext cx="12192000" cy="8672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C4BB88-CAF3-AC30-8FBC-EA15DCF4D033}"/>
              </a:ext>
            </a:extLst>
          </p:cNvPr>
          <p:cNvSpPr txBox="1"/>
          <p:nvPr/>
        </p:nvSpPr>
        <p:spPr>
          <a:xfrm>
            <a:off x="282805" y="172023"/>
            <a:ext cx="7843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5000"/>
                  </a:schemeClr>
                </a:solidFill>
              </a:rPr>
              <a:t>What Is the Kernel Concept in SVM?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AF1F00-7336-D73A-EC62-284A806EF7B7}"/>
              </a:ext>
            </a:extLst>
          </p:cNvPr>
          <p:cNvSpPr txBox="1"/>
          <p:nvPr/>
        </p:nvSpPr>
        <p:spPr>
          <a:xfrm>
            <a:off x="353504" y="1039289"/>
            <a:ext cx="1161853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Sometimes, two classes cannot be separated effectively by a straight line in the original feature space.</a:t>
            </a:r>
          </a:p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A kernel allows SVM to model nonlinear decision boundaries by computing relationships that correspond to a higher-dimensional feature representation, without necessarily constructing that representation explicitly.</a:t>
            </a:r>
          </a:p>
          <a:p>
            <a:endParaRPr lang="en-IN" sz="20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IN" sz="2000" u="sng" dirty="0">
                <a:solidFill>
                  <a:schemeClr val="bg2">
                    <a:lumMod val="25000"/>
                  </a:schemeClr>
                </a:solidFill>
              </a:rPr>
              <a:t>Example: Customer Purchase Prediction</a:t>
            </a:r>
          </a:p>
          <a:p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Suppose customers who make a purchase form a circular cluster surrounded by non-purchasing customers.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A straight line may not separate these groups effectively.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A nonlinear kernel may help SVM create a curved boundary that better separates the classes.</a:t>
            </a:r>
          </a:p>
          <a:p>
            <a:endParaRPr lang="en-IN" sz="2000" u="sng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IN" sz="2000" u="sng" dirty="0">
                <a:solidFill>
                  <a:schemeClr val="bg2">
                    <a:lumMod val="25000"/>
                  </a:schemeClr>
                </a:solidFill>
              </a:rPr>
              <a:t>Common kernel types: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Linear kernel: </a:t>
            </a: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Suitable when a linear boundary is appropriate.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Polynomial kernel: </a:t>
            </a: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Can model certain nonlinear relationships.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RBF (Radial Basis Function) kernel: </a:t>
            </a: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Can model flexible nonlinear boundaries.</a:t>
            </a:r>
          </a:p>
          <a:p>
            <a:endParaRPr lang="en-IN" sz="20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291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D954E-2A53-81C0-F879-16F534111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003048-1A19-AA0D-685E-0C1D1D0655CC}"/>
              </a:ext>
            </a:extLst>
          </p:cNvPr>
          <p:cNvSpPr/>
          <p:nvPr/>
        </p:nvSpPr>
        <p:spPr>
          <a:xfrm>
            <a:off x="0" y="0"/>
            <a:ext cx="12192000" cy="8672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9AC400-122F-4D45-7917-6FF0CD2F589B}"/>
              </a:ext>
            </a:extLst>
          </p:cNvPr>
          <p:cNvSpPr txBox="1"/>
          <p:nvPr/>
        </p:nvSpPr>
        <p:spPr>
          <a:xfrm>
            <a:off x="282805" y="172023"/>
            <a:ext cx="7843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5000"/>
                  </a:schemeClr>
                </a:solidFill>
              </a:rPr>
              <a:t>SVM — Advantages and Limitations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58CF8F-14DC-C521-0F66-1C06A783C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475886"/>
              </p:ext>
            </p:extLst>
          </p:nvPr>
        </p:nvGraphicFramePr>
        <p:xfrm>
          <a:off x="293688" y="1120420"/>
          <a:ext cx="11604624" cy="4922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02312">
                  <a:extLst>
                    <a:ext uri="{9D8B030D-6E8A-4147-A177-3AD203B41FA5}">
                      <a16:colId xmlns:a16="http://schemas.microsoft.com/office/drawing/2014/main" val="2935678114"/>
                    </a:ext>
                  </a:extLst>
                </a:gridCol>
                <a:gridCol w="5802312">
                  <a:extLst>
                    <a:ext uri="{9D8B030D-6E8A-4147-A177-3AD203B41FA5}">
                      <a16:colId xmlns:a16="http://schemas.microsoft.com/office/drawing/2014/main" val="3573504902"/>
                    </a:ext>
                  </a:extLst>
                </a:gridCol>
              </a:tblGrid>
              <a:tr h="729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Advantages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Limitations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606808"/>
                  </a:ext>
                </a:extLst>
              </a:tr>
              <a:tr h="729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Effective in high-dimensional feature spaces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Can be difficult to explain to non-technical stakeholders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419228"/>
                  </a:ext>
                </a:extLst>
              </a:tr>
              <a:tr h="729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Can model linear and nonlinear boundaries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Kernel and parameter selection can be challenging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5341981"/>
                  </a:ext>
                </a:extLst>
              </a:tr>
              <a:tr h="1276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Uses a maximum-margin principle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Training can become computationally expensive on large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237141"/>
                  </a:ext>
                </a:extLst>
              </a:tr>
              <a:tr h="729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Can perform well when classes have a clear margin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Performance may suffer when classes overlap heavily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1928264"/>
                  </a:ext>
                </a:extLst>
              </a:tr>
              <a:tr h="729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Supports classification and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Requires careful feature scaling in many applications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7695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7607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DF19C-FC08-1BDF-928C-AC3047A13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462342-02CE-1CFB-7337-B6D0104F43F9}"/>
              </a:ext>
            </a:extLst>
          </p:cNvPr>
          <p:cNvSpPr/>
          <p:nvPr/>
        </p:nvSpPr>
        <p:spPr>
          <a:xfrm>
            <a:off x="0" y="0"/>
            <a:ext cx="12192000" cy="8672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D2FDF-5940-17A2-BEE2-F8628C761632}"/>
              </a:ext>
            </a:extLst>
          </p:cNvPr>
          <p:cNvSpPr txBox="1"/>
          <p:nvPr/>
        </p:nvSpPr>
        <p:spPr>
          <a:xfrm>
            <a:off x="282805" y="172023"/>
            <a:ext cx="7843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5000"/>
                  </a:schemeClr>
                </a:solidFill>
              </a:rPr>
              <a:t>Decision Tree vs. Random Forest vs. SVM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70908FE-60F8-0AFC-FCC0-76F2CD9EB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770560"/>
              </p:ext>
            </p:extLst>
          </p:nvPr>
        </p:nvGraphicFramePr>
        <p:xfrm>
          <a:off x="429094" y="1039287"/>
          <a:ext cx="11175300" cy="551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93825">
                  <a:extLst>
                    <a:ext uri="{9D8B030D-6E8A-4147-A177-3AD203B41FA5}">
                      <a16:colId xmlns:a16="http://schemas.microsoft.com/office/drawing/2014/main" val="2846759578"/>
                    </a:ext>
                  </a:extLst>
                </a:gridCol>
                <a:gridCol w="2793825">
                  <a:extLst>
                    <a:ext uri="{9D8B030D-6E8A-4147-A177-3AD203B41FA5}">
                      <a16:colId xmlns:a16="http://schemas.microsoft.com/office/drawing/2014/main" val="801225311"/>
                    </a:ext>
                  </a:extLst>
                </a:gridCol>
                <a:gridCol w="2793825">
                  <a:extLst>
                    <a:ext uri="{9D8B030D-6E8A-4147-A177-3AD203B41FA5}">
                      <a16:colId xmlns:a16="http://schemas.microsoft.com/office/drawing/2014/main" val="1189330943"/>
                    </a:ext>
                  </a:extLst>
                </a:gridCol>
                <a:gridCol w="2793825">
                  <a:extLst>
                    <a:ext uri="{9D8B030D-6E8A-4147-A177-3AD203B41FA5}">
                      <a16:colId xmlns:a16="http://schemas.microsoft.com/office/drawing/2014/main" val="2834707101"/>
                    </a:ext>
                  </a:extLst>
                </a:gridCol>
              </a:tblGrid>
              <a:tr h="415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Criteria</a:t>
                      </a:r>
                    </a:p>
                  </a:txBody>
                  <a:tcPr marL="84677" marR="84677" marT="42339" marB="42339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Decision Tree</a:t>
                      </a:r>
                    </a:p>
                  </a:txBody>
                  <a:tcPr marL="84677" marR="84677" marT="42339" marB="42339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Random Forest</a:t>
                      </a:r>
                    </a:p>
                  </a:txBody>
                  <a:tcPr marL="84677" marR="84677" marT="42339" marB="42339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/>
                        <a:t>SVM</a:t>
                      </a:r>
                    </a:p>
                  </a:txBody>
                  <a:tcPr marL="84677" marR="84677" marT="42339" marB="42339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590360"/>
                  </a:ext>
                </a:extLst>
              </a:tr>
              <a:tr h="72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Basic idea</a:t>
                      </a:r>
                    </a:p>
                  </a:txBody>
                  <a:tcPr marL="84677" marR="84677" marT="42339" marB="42339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 sequence of decision rules</a:t>
                      </a:r>
                    </a:p>
                  </a:txBody>
                  <a:tcPr marL="84677" marR="84677" marT="42339" marB="4233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An ensemble of randomized trees</a:t>
                      </a:r>
                    </a:p>
                  </a:txBody>
                  <a:tcPr marL="84677" marR="84677" marT="42339" marB="4233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Maximum-margin decision boundary</a:t>
                      </a:r>
                    </a:p>
                  </a:txBody>
                  <a:tcPr marL="84677" marR="84677" marT="42339" marB="42339" anchor="ctr"/>
                </a:tc>
                <a:extLst>
                  <a:ext uri="{0D108BD9-81ED-4DB2-BD59-A6C34878D82A}">
                    <a16:rowId xmlns:a16="http://schemas.microsoft.com/office/drawing/2014/main" val="3943442188"/>
                  </a:ext>
                </a:extLst>
              </a:tr>
              <a:tr h="72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Interpretability</a:t>
                      </a:r>
                    </a:p>
                  </a:txBody>
                  <a:tcPr marL="84677" marR="84677" marT="42339" marB="42339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Usually high for small trees</a:t>
                      </a:r>
                    </a:p>
                  </a:txBody>
                  <a:tcPr marL="84677" marR="84677" marT="42339" marB="4233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Lower than a single tree</a:t>
                      </a:r>
                    </a:p>
                  </a:txBody>
                  <a:tcPr marL="84677" marR="84677" marT="42339" marB="4233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Often lower, especially with nonlinear kernels</a:t>
                      </a:r>
                    </a:p>
                  </a:txBody>
                  <a:tcPr marL="84677" marR="84677" marT="42339" marB="42339" anchor="ctr"/>
                </a:tc>
                <a:extLst>
                  <a:ext uri="{0D108BD9-81ED-4DB2-BD59-A6C34878D82A}">
                    <a16:rowId xmlns:a16="http://schemas.microsoft.com/office/drawing/2014/main" val="485689794"/>
                  </a:ext>
                </a:extLst>
              </a:tr>
              <a:tr h="415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Nonlinear patterns</a:t>
                      </a:r>
                    </a:p>
                  </a:txBody>
                  <a:tcPr marL="84677" marR="84677" marT="42339" marB="42339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Yes</a:t>
                      </a:r>
                    </a:p>
                  </a:txBody>
                  <a:tcPr marL="84677" marR="84677" marT="42339" marB="4233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Yes</a:t>
                      </a:r>
                    </a:p>
                  </a:txBody>
                  <a:tcPr marL="84677" marR="84677" marT="42339" marB="4233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Yes, with suitable kernels</a:t>
                      </a:r>
                    </a:p>
                  </a:txBody>
                  <a:tcPr marL="84677" marR="84677" marT="42339" marB="42339" anchor="ctr"/>
                </a:tc>
                <a:extLst>
                  <a:ext uri="{0D108BD9-81ED-4DB2-BD59-A6C34878D82A}">
                    <a16:rowId xmlns:a16="http://schemas.microsoft.com/office/drawing/2014/main" val="3098478180"/>
                  </a:ext>
                </a:extLst>
              </a:tr>
              <a:tr h="415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Feature scaling</a:t>
                      </a:r>
                    </a:p>
                  </a:txBody>
                  <a:tcPr marL="84677" marR="84677" marT="42339" marB="42339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Usually not required</a:t>
                      </a:r>
                    </a:p>
                  </a:txBody>
                  <a:tcPr marL="84677" marR="84677" marT="42339" marB="4233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Usually not required</a:t>
                      </a:r>
                    </a:p>
                  </a:txBody>
                  <a:tcPr marL="84677" marR="84677" marT="42339" marB="4233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Generally important</a:t>
                      </a:r>
                    </a:p>
                  </a:txBody>
                  <a:tcPr marL="84677" marR="84677" marT="42339" marB="42339" anchor="ctr"/>
                </a:tc>
                <a:extLst>
                  <a:ext uri="{0D108BD9-81ED-4DB2-BD59-A6C34878D82A}">
                    <a16:rowId xmlns:a16="http://schemas.microsoft.com/office/drawing/2014/main" val="1055621089"/>
                  </a:ext>
                </a:extLst>
              </a:tr>
              <a:tr h="72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Overfitting risk</a:t>
                      </a:r>
                    </a:p>
                  </a:txBody>
                  <a:tcPr marL="84677" marR="84677" marT="42339" marB="42339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Can be high for deep trees</a:t>
                      </a:r>
                    </a:p>
                  </a:txBody>
                  <a:tcPr marL="84677" marR="84677" marT="42339" marB="4233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Often lower than for a single tree</a:t>
                      </a:r>
                    </a:p>
                  </a:txBody>
                  <a:tcPr marL="84677" marR="84677" marT="42339" marB="4233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Depends on kernel, regularization and data</a:t>
                      </a:r>
                    </a:p>
                  </a:txBody>
                  <a:tcPr marL="84677" marR="84677" marT="42339" marB="42339" anchor="ctr"/>
                </a:tc>
                <a:extLst>
                  <a:ext uri="{0D108BD9-81ED-4DB2-BD59-A6C34878D82A}">
                    <a16:rowId xmlns:a16="http://schemas.microsoft.com/office/drawing/2014/main" val="3907885063"/>
                  </a:ext>
                </a:extLst>
              </a:tr>
              <a:tr h="1041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Feature importance</a:t>
                      </a:r>
                    </a:p>
                  </a:txBody>
                  <a:tcPr marL="84677" marR="84677" marT="42339" marB="42339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Available through split-based methods</a:t>
                      </a:r>
                    </a:p>
                  </a:txBody>
                  <a:tcPr marL="84677" marR="84677" marT="42339" marB="4233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Available through several importance methods</a:t>
                      </a:r>
                    </a:p>
                  </a:txBody>
                  <a:tcPr marL="84677" marR="84677" marT="42339" marB="4233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No equivalent built-in measure in the same general sense</a:t>
                      </a:r>
                    </a:p>
                  </a:txBody>
                  <a:tcPr marL="84677" marR="84677" marT="42339" marB="42339" anchor="ctr"/>
                </a:tc>
                <a:extLst>
                  <a:ext uri="{0D108BD9-81ED-4DB2-BD59-A6C34878D82A}">
                    <a16:rowId xmlns:a16="http://schemas.microsoft.com/office/drawing/2014/main" val="2449251039"/>
                  </a:ext>
                </a:extLst>
              </a:tr>
              <a:tr h="1041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/>
                        <a:t>Typical business use</a:t>
                      </a:r>
                    </a:p>
                  </a:txBody>
                  <a:tcPr marL="84677" marR="84677" marT="42339" marB="42339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Explainable rules and approvals</a:t>
                      </a:r>
                    </a:p>
                  </a:txBody>
                  <a:tcPr marL="84677" marR="84677" marT="42339" marB="4233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Churn, risk and classification tasks</a:t>
                      </a:r>
                    </a:p>
                  </a:txBody>
                  <a:tcPr marL="84677" marR="84677" marT="42339" marB="4233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Text classification and high-dimensional classification</a:t>
                      </a:r>
                    </a:p>
                  </a:txBody>
                  <a:tcPr marL="84677" marR="84677" marT="42339" marB="42339" anchor="ctr"/>
                </a:tc>
                <a:extLst>
                  <a:ext uri="{0D108BD9-81ED-4DB2-BD59-A6C34878D82A}">
                    <a16:rowId xmlns:a16="http://schemas.microsoft.com/office/drawing/2014/main" val="2103661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8166827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Custom 1">
      <a:dk1>
        <a:sysClr val="windowText" lastClr="000000"/>
      </a:dk1>
      <a:lt1>
        <a:sysClr val="window" lastClr="FFFFFF"/>
      </a:lt1>
      <a:dk2>
        <a:srgbClr val="C6D9F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248</TotalTime>
  <Words>1941</Words>
  <Application>Microsoft Office PowerPoint</Application>
  <PresentationFormat>Widescreen</PresentationFormat>
  <Paragraphs>269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Arial Nova Light</vt:lpstr>
      <vt:lpstr>Wingdings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Tanaya Baidya</dc:creator>
  <cp:lastModifiedBy>Tanaya Baidya</cp:lastModifiedBy>
  <cp:revision>9</cp:revision>
  <dcterms:created xsi:type="dcterms:W3CDTF">2026-10-03T14:35:20Z</dcterms:created>
  <dcterms:modified xsi:type="dcterms:W3CDTF">2026-10-21T18:01:04Z</dcterms:modified>
</cp:coreProperties>
</file>